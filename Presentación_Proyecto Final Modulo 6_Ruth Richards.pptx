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2" r:id="rId2"/>
    <p:sldId id="257" r:id="rId3"/>
    <p:sldId id="274" r:id="rId4"/>
    <p:sldId id="272" r:id="rId5"/>
    <p:sldId id="275" r:id="rId6"/>
    <p:sldId id="273" r:id="rId7"/>
    <p:sldId id="276" r:id="rId8"/>
    <p:sldId id="270" r:id="rId9"/>
    <p:sldId id="279" r:id="rId10"/>
    <p:sldId id="280" r:id="rId11"/>
    <p:sldId id="281" r:id="rId12"/>
    <p:sldId id="278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1" autoAdjust="0"/>
    <p:restoredTop sz="94733" autoAdjust="0"/>
  </p:normalViewPr>
  <p:slideViewPr>
    <p:cSldViewPr snapToGrid="0">
      <p:cViewPr varScale="1">
        <p:scale>
          <a:sx n="120" d="100"/>
          <a:sy n="120" d="100"/>
        </p:scale>
        <p:origin x="816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287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733433-91C9-4F25-89C5-2049FA2AC72A}" type="datetime1">
              <a:rPr lang="es-ES" smtClean="0"/>
              <a:t>16/3/26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798501B-77B5-4365-9881-C6E19A3C1E4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514561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42799A-0270-465F-BFBB-B1E8788AA761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C8BD8E7-1312-41F3-99C4-6DA5AF89196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92084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2865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6879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9238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2457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49747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1988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578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019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0F2A-4B14-504B-78C1-28D8F5E7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04C253-3989-627B-1EC3-E98C178F4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AE42BC-4738-D823-D577-5BC334D22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DA0BBA-BF9C-FBBF-F3F1-72348E904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7986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3A459-0F2A-87A6-1E9E-8986A0D8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4802D3-5C80-F25F-8F3B-94AB656A9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228AB6-8261-5D0A-68C1-D2E7BC4CF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4A5445-BFDE-2505-B549-71DCB771E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6849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C8E0-D3ED-0832-B113-2C1290D7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759893-3EE2-7F6B-F927-90B65D53D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26781C-5BAF-B479-4323-7CBBB7916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B8D3C5-3F30-3234-BF18-00410252B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784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4268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1548245"/>
            <a:ext cx="10515600" cy="2240280"/>
          </a:xfrm>
        </p:spPr>
        <p:txBody>
          <a:bodyPr rtlCol="0"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38200" y="3854659"/>
            <a:ext cx="10515600" cy="114300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/>
              <a:t>Haz clic para editar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 con imáge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3400" y="5084483"/>
            <a:ext cx="11125200" cy="914400"/>
          </a:xfrm>
        </p:spPr>
        <p:txBody>
          <a:bodyPr rtlCol="0"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9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0"/>
          </p:nvPr>
        </p:nvSpPr>
        <p:spPr>
          <a:xfrm>
            <a:off x="1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MX" noProof="0"/>
              <a:t>Haz clic en el icono para agregar una imagen</a:t>
            </a:r>
            <a:endParaRPr lang="es-ES" noProof="0" dirty="0"/>
          </a:p>
        </p:txBody>
      </p:sp>
      <p:sp>
        <p:nvSpPr>
          <p:cNvPr id="1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1"/>
          </p:nvPr>
        </p:nvSpPr>
        <p:spPr>
          <a:xfrm>
            <a:off x="4084320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MX" noProof="0"/>
              <a:t>Haz clic en el icono para agregar una imagen</a:t>
            </a:r>
            <a:endParaRPr lang="es-ES" noProof="0" dirty="0"/>
          </a:p>
        </p:txBody>
      </p:sp>
      <p:sp>
        <p:nvSpPr>
          <p:cNvPr id="14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2"/>
          </p:nvPr>
        </p:nvSpPr>
        <p:spPr>
          <a:xfrm>
            <a:off x="8168640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MX" noProof="0"/>
              <a:t>Haz clic en el icono para agregar una imagen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3400" y="6043123"/>
            <a:ext cx="11125200" cy="5715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/>
              <a:t>Haz clic para editar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63745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0C7336-B85B-4E7E-BC21-81D785E9499B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cabezado de secció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483427"/>
            <a:ext cx="10515600" cy="2743200"/>
          </a:xfrm>
        </p:spPr>
        <p:txBody>
          <a:bodyPr rtlCol="0"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10"/>
          </p:nvPr>
        </p:nvSpPr>
        <p:spPr>
          <a:xfrm>
            <a:off x="835025" y="5257800"/>
            <a:ext cx="105156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cap="all" spc="50" baseline="0">
                <a:solidFill>
                  <a:schemeClr val="bg1"/>
                </a:solidFill>
              </a:defRPr>
            </a:lvl1pPr>
            <a:lvl2pPr marL="365760" indent="0" algn="ctr">
              <a:buNone/>
              <a:defRPr sz="2000" cap="all" spc="50" baseline="0">
                <a:solidFill>
                  <a:schemeClr val="bg1"/>
                </a:solidFill>
              </a:defRPr>
            </a:lvl2pPr>
            <a:lvl3pPr algn="ctr">
              <a:defRPr sz="2000" cap="all" spc="50" baseline="0">
                <a:solidFill>
                  <a:schemeClr val="bg1"/>
                </a:solidFill>
              </a:defRPr>
            </a:lvl3pPr>
            <a:lvl4pPr algn="ctr">
              <a:defRPr sz="2000" cap="all" spc="50" baseline="0">
                <a:solidFill>
                  <a:schemeClr val="bg1"/>
                </a:solidFill>
              </a:defRPr>
            </a:lvl4pPr>
            <a:lvl5pPr algn="ctr">
              <a:defRPr sz="2000" cap="all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24000" y="1714500"/>
            <a:ext cx="4495800" cy="446227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172200" y="1714500"/>
            <a:ext cx="4495800" cy="446227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D2FC1E-83DA-4E03-9666-93C59D8ACCEA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7048" y="1733162"/>
            <a:ext cx="4498848" cy="6858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7048" y="2481943"/>
            <a:ext cx="4498848" cy="369025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172200" y="1733162"/>
            <a:ext cx="4498848" cy="6858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172200" y="2481943"/>
            <a:ext cx="4498848" cy="369025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1153A9-469E-4B41-9F8D-6E09C4AFB7F0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ADA510-67ED-4878-A088-E9242C8AA6FD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51812" y="1672934"/>
            <a:ext cx="3506788" cy="2880360"/>
          </a:xfrm>
        </p:spPr>
        <p:txBody>
          <a:bodyPr rtlCol="0" anchor="b">
            <a:normAutofit/>
          </a:bodyPr>
          <a:lstStyle>
            <a:lvl1pPr>
              <a:defRPr sz="3000"/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30352" y="457200"/>
            <a:ext cx="7242111" cy="5715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151812" y="4590288"/>
            <a:ext cx="3514564" cy="1581912"/>
          </a:xfrm>
        </p:spPr>
        <p:txBody>
          <a:bodyPr rtlCol="0"/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7FFF32-C91A-4880-A5BC-2E29719B4A91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32813" y="1683327"/>
            <a:ext cx="3125787" cy="2877260"/>
          </a:xfrm>
        </p:spPr>
        <p:txBody>
          <a:bodyPr rtlCol="0"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0" y="0"/>
            <a:ext cx="8101584" cy="6857999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MX" noProof="0"/>
              <a:t>Haz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532813" y="4591761"/>
            <a:ext cx="3125787" cy="1580440"/>
          </a:xfrm>
        </p:spPr>
        <p:txBody>
          <a:bodyPr rtlCol="0"/>
          <a:lstStyle>
            <a:lvl1pPr marL="0" indent="0">
              <a:spcBef>
                <a:spcPts val="8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9C5101-B6E1-4C2F-96CC-D4D7C5FEAAF7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57200"/>
            <a:ext cx="1943100" cy="5719762"/>
          </a:xfrm>
        </p:spPr>
        <p:txBody>
          <a:bodyPr vert="eaVert"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524000" y="457200"/>
            <a:ext cx="7048500" cy="5719762"/>
          </a:xfrm>
        </p:spPr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3F2578-7180-4CCB-9A96-7D1B03AD95AA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7" name="Rectángulo 6"/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523999" y="6601556"/>
            <a:ext cx="6491381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187908" y="6601556"/>
            <a:ext cx="1534064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pPr rtl="0"/>
            <a:fld id="{5E879E85-5BBE-4DC3-949C-B551255CCB64}" type="datetime1">
              <a:rPr lang="es-ES" noProof="0" smtClean="0"/>
              <a:t>16/3/26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894499" y="6601556"/>
            <a:ext cx="7735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EVALUACION MODULO 6</a:t>
            </a:r>
          </a:p>
        </p:txBody>
      </p:sp>
      <p:pic>
        <p:nvPicPr>
          <p:cNvPr id="7" name="Marcador de posición de imagen 6" descr="Dos personas levantando pesas"/>
          <p:cNvPicPr>
            <a:picLocks noGrp="1" noChangeAspect="1"/>
          </p:cNvPicPr>
          <p:nvPr>
            <p:ph type="pic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8" name="Marcador de posición de imagen 7" descr="Primer plano de una manzana Granny Smith y una cinta métrica"/>
          <p:cNvPicPr>
            <a:picLocks noGrp="1" noChangeAspect="1"/>
          </p:cNvPicPr>
          <p:nvPr>
            <p:ph type="pic" idx="1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 b="19"/>
          <a:stretch/>
        </p:blipFill>
        <p:spPr/>
      </p:pic>
      <p:pic>
        <p:nvPicPr>
          <p:cNvPr id="9" name="Marcador de posición de imagen 8" descr="Un hombre y una mujer corriendo en una pista cubierta"/>
          <p:cNvPicPr>
            <a:picLocks noGrp="1" noChangeAspect="1"/>
          </p:cNvPicPr>
          <p:nvPr>
            <p:ph type="pic" idx="12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" b="39"/>
          <a:stretch/>
        </p:blipFill>
        <p:spPr/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/>
              <a:t>Análisis estadístico Sobre hábitos saludables en jóvenes universitarios.</a:t>
            </a:r>
          </a:p>
        </p:txBody>
      </p:sp>
    </p:spTree>
    <p:extLst>
      <p:ext uri="{BB962C8B-B14F-4D97-AF65-F5344CB8AC3E}">
        <p14:creationId xmlns:p14="http://schemas.microsoft.com/office/powerpoint/2010/main" val="303468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EVALUACION DEL MODULO: INFERENCIA ESTADISTICA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/>
              <a:t>Método científico y estadística</a:t>
            </a:r>
          </a:p>
          <a:p>
            <a:pPr rtl="0"/>
            <a:r>
              <a:rPr lang="es-ES" dirty="0"/>
              <a:t>Probabilidad y estadística</a:t>
            </a:r>
          </a:p>
          <a:p>
            <a:pPr rtl="0"/>
            <a:r>
              <a:rPr lang="es-ES" dirty="0"/>
              <a:t>Distribución de probabilidad</a:t>
            </a:r>
          </a:p>
          <a:p>
            <a:r>
              <a:rPr lang="es-ES" dirty="0"/>
              <a:t>Distribución muestral y teorema del límite central</a:t>
            </a:r>
          </a:p>
          <a:p>
            <a:r>
              <a:rPr lang="es-ES" dirty="0"/>
              <a:t>Inferencia e intervalos de confianza para le media</a:t>
            </a:r>
          </a:p>
          <a:p>
            <a:r>
              <a:rPr lang="es-ES" dirty="0"/>
              <a:t>Test de significancia</a:t>
            </a:r>
          </a:p>
          <a:p>
            <a:r>
              <a:rPr lang="es-ES" dirty="0"/>
              <a:t>Conclusiones y recomendaciones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3697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PROBLEMA DE INVESTIGACION</a:t>
            </a:r>
          </a:p>
        </p:txBody>
      </p:sp>
      <p:sp>
        <p:nvSpPr>
          <p:cNvPr id="2" name="Marcador de posición de texto 1"/>
          <p:cNvSpPr>
            <a:spLocks noGrp="1"/>
          </p:cNvSpPr>
          <p:nvPr>
            <p:ph type="body" idx="1"/>
          </p:nvPr>
        </p:nvSpPr>
        <p:spPr>
          <a:xfrm>
            <a:off x="1527048" y="1733162"/>
            <a:ext cx="9607984" cy="685800"/>
          </a:xfrm>
        </p:spPr>
        <p:txBody>
          <a:bodyPr rtlCol="0"/>
          <a:lstStyle/>
          <a:p>
            <a:pPr rtl="0"/>
            <a:r>
              <a:rPr lang="es-ES" dirty="0"/>
              <a:t>Identificar factores que influyen en hábitos de sueño, alimentación y actividad física.</a:t>
            </a:r>
          </a:p>
        </p:txBody>
      </p:sp>
    </p:spTree>
    <p:extLst>
      <p:ext uri="{BB962C8B-B14F-4D97-AF65-F5344CB8AC3E}">
        <p14:creationId xmlns:p14="http://schemas.microsoft.com/office/powerpoint/2010/main" val="233693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HIPOTESIS Y DATASET MUESTREO</a:t>
            </a:r>
          </a:p>
        </p:txBody>
      </p:sp>
    </p:spTree>
    <p:extLst>
      <p:ext uri="{BB962C8B-B14F-4D97-AF65-F5344CB8AC3E}">
        <p14:creationId xmlns:p14="http://schemas.microsoft.com/office/powerpoint/2010/main" val="339639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4114800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2800" dirty="0"/>
              <a:t>H0: No existe relación significativa</a:t>
            </a:r>
            <a:br>
              <a:rPr lang="es-ES" sz="2800" dirty="0"/>
            </a:br>
            <a:r>
              <a:rPr lang="es-ES" sz="2800" dirty="0"/>
              <a:t>h1: Existe relación significativa entre hábitos y bienestar </a:t>
            </a:r>
            <a:br>
              <a:rPr lang="es-ES" sz="2800" dirty="0"/>
            </a:br>
            <a:br>
              <a:rPr lang="es-ES" sz="2800" dirty="0"/>
            </a:br>
            <a:r>
              <a:rPr lang="es-ES" sz="2800" dirty="0"/>
              <a:t>el dataset inicial simulado con una muestra de más de 500 registros de estudiantes universitarios </a:t>
            </a:r>
          </a:p>
        </p:txBody>
      </p:sp>
    </p:spTree>
    <p:extLst>
      <p:ext uri="{BB962C8B-B14F-4D97-AF65-F5344CB8AC3E}">
        <p14:creationId xmlns:p14="http://schemas.microsoft.com/office/powerpoint/2010/main" val="168478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628020"/>
            <a:ext cx="10515600" cy="2743200"/>
          </a:xfrm>
        </p:spPr>
        <p:txBody>
          <a:bodyPr rtlCol="0"/>
          <a:lstStyle/>
          <a:p>
            <a:pPr rtl="0"/>
            <a:r>
              <a:rPr lang="es-ES" dirty="0"/>
              <a:t>Distribución estadística - teorema del límite central – intervalos de confianza y pruebas de hipótesis. </a:t>
            </a:r>
          </a:p>
        </p:txBody>
      </p:sp>
    </p:spTree>
    <p:extLst>
      <p:ext uri="{BB962C8B-B14F-4D97-AF65-F5344CB8AC3E}">
        <p14:creationId xmlns:p14="http://schemas.microsoft.com/office/powerpoint/2010/main" val="256224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70BEC4CA-3EA6-F61D-C83C-BA884ED85AB8}"/>
              </a:ext>
            </a:extLst>
          </p:cNvPr>
          <p:cNvSpPr txBox="1">
            <a:spLocks/>
          </p:cNvSpPr>
          <p:nvPr/>
        </p:nvSpPr>
        <p:spPr>
          <a:xfrm>
            <a:off x="1524000" y="1371600"/>
            <a:ext cx="9144000" cy="4114800"/>
          </a:xfrm>
          <a:prstGeom prst="rect">
            <a:avLst/>
          </a:prstGeom>
        </p:spPr>
        <p:txBody>
          <a:bodyPr rtlCol="0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just">
              <a:buAutoNum type="arabicPeriod"/>
            </a:pPr>
            <a:r>
              <a:rPr lang="es-ES" sz="2800" dirty="0"/>
              <a:t>Distribución normal para variables continuas y distribución binomial para variables binarias.</a:t>
            </a:r>
          </a:p>
          <a:p>
            <a:pPr marL="514350" indent="-514350" algn="just">
              <a:buAutoNum type="arabicPeriod"/>
            </a:pPr>
            <a:endParaRPr lang="es-ES" sz="2800" dirty="0"/>
          </a:p>
          <a:p>
            <a:pPr algn="just"/>
            <a:r>
              <a:rPr lang="es-ES" sz="2800" dirty="0"/>
              <a:t>2. La distribución de la media muestral tiende a ser normal cuando el tamaño aumenta la muestra.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3. Estimación de la media poblacional con niveles de confianza de 90%, 95% y 99%.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4. Uso del valor p y niveles de significancia para aceptar o rechazar H0. </a:t>
            </a:r>
          </a:p>
        </p:txBody>
      </p:sp>
    </p:spTree>
    <p:extLst>
      <p:ext uri="{BB962C8B-B14F-4D97-AF65-F5344CB8AC3E}">
        <p14:creationId xmlns:p14="http://schemas.microsoft.com/office/powerpoint/2010/main" val="116904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Gráfico de distribución estadística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B5F5B85-0926-9AE6-3071-26B714020F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29" y="2475885"/>
            <a:ext cx="5613400" cy="2286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4D16A3B-2BB7-7C14-CE33-721A5964BF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5885"/>
            <a:ext cx="5612130" cy="228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9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81AED-C6DA-FE14-351B-86439805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9A6EF-1D58-A9A0-B944-F599B9F3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Gráfico del teorema del límite central 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F8CA52B-AC0F-C1CD-B442-C48F55D25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455" y="2034662"/>
            <a:ext cx="5936841" cy="379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50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BD87D-CD73-F08F-C102-9F025FF3A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D775D-5496-6E27-B65D-081F8258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Gráfico intervalo de confianza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E62759E-6B28-EB2F-35CC-836CEF61A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287" y="2240567"/>
            <a:ext cx="7116711" cy="292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82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EC5B4-E258-18C3-B4F5-5CDEC7FF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84D11-A34B-C0AF-3132-2ABB4AD6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Gráfico pruebas de hipótesis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228078-CAAA-D2AE-329F-696E93F932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360" y="2081560"/>
            <a:ext cx="7845953" cy="368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75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532812" y="1333755"/>
            <a:ext cx="3125787" cy="932484"/>
          </a:xfrm>
        </p:spPr>
        <p:txBody>
          <a:bodyPr rtlCol="0"/>
          <a:lstStyle/>
          <a:p>
            <a:pPr rtl="0"/>
            <a:r>
              <a:rPr lang="es-ES" dirty="0"/>
              <a:t>conclusión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r>
              <a:rPr lang="es-ES" dirty="0"/>
              <a:t>Ruth Richards Gaete</a:t>
            </a:r>
          </a:p>
          <a:p>
            <a:pPr rtl="0"/>
            <a:r>
              <a:rPr lang="es-ES" dirty="0"/>
              <a:t>Proyecto Final Módulo 6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2FF1D1-908C-EDED-C9C2-DC2AC0492397}"/>
              </a:ext>
            </a:extLst>
          </p:cNvPr>
          <p:cNvSpPr txBox="1"/>
          <p:nvPr/>
        </p:nvSpPr>
        <p:spPr>
          <a:xfrm>
            <a:off x="777240" y="1333755"/>
            <a:ext cx="63550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La inferencia estadística permite comprender patrones y apoyar decisiones en la salud estudiantil de los jóvenes universitarios. </a:t>
            </a:r>
          </a:p>
        </p:txBody>
      </p:sp>
    </p:spTree>
    <p:extLst>
      <p:ext uri="{BB962C8B-B14F-4D97-AF65-F5344CB8AC3E}">
        <p14:creationId xmlns:p14="http://schemas.microsoft.com/office/powerpoint/2010/main" val="256616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alud y forma física 16x9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064253_TF02922391.potx" id="{9CC8F11D-4903-4974-8199-631754F1E5BE}" vid="{2F01A7E0-C48F-4240-A8E0-3733B54D6BA9}"/>
    </a:ext>
  </a:extLst>
</a:theme>
</file>

<file path=ppt/theme/theme2.xml><?xml version="1.0" encoding="utf-8"?>
<a:theme xmlns:a="http://schemas.openxmlformats.org/drawingml/2006/main" name="Tema de Offic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Salud y forma física 16x9</Template>
  <TotalTime>29</TotalTime>
  <Words>241</Words>
  <Application>Microsoft Macintosh PowerPoint</Application>
  <PresentationFormat>Panorámica</PresentationFormat>
  <Paragraphs>43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Salud y forma física 16x9</vt:lpstr>
      <vt:lpstr>EVALUACION MODULO 6</vt:lpstr>
      <vt:lpstr>EVALUACION DEL MODULO: INFERENCIA ESTADISTICA</vt:lpstr>
      <vt:lpstr>PROBLEMA DE INVESTIGACION</vt:lpstr>
      <vt:lpstr>HIPOTESIS Y DATASET MUESTREO</vt:lpstr>
      <vt:lpstr>H0: No existe relación significativa h1: Existe relación significativa entre hábitos y bienestar   el dataset inicial simulado con una muestra de más de 500 registros de estudiantes universitarios </vt:lpstr>
      <vt:lpstr>Distribución estadística - teorema del límite central – intervalos de confianza y pruebas de hipótesis. </vt:lpstr>
      <vt:lpstr>Presentación de PowerPoint</vt:lpstr>
      <vt:lpstr>Gráfico de distribución estadística</vt:lpstr>
      <vt:lpstr>Gráfico del teorema del límite central </vt:lpstr>
      <vt:lpstr>Gráfico intervalo de confianza</vt:lpstr>
      <vt:lpstr>Gráfico pruebas de hipótesis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365 Pro Plus</dc:creator>
  <cp:lastModifiedBy>365 Pro Plus</cp:lastModifiedBy>
  <cp:revision>1</cp:revision>
  <dcterms:created xsi:type="dcterms:W3CDTF">2026-03-17T01:04:55Z</dcterms:created>
  <dcterms:modified xsi:type="dcterms:W3CDTF">2026-03-17T01:34:18Z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